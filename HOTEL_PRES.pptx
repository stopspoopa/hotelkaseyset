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1.svg" ContentType="image/svg+xml"/>
  <Override PartName="/ppt/media/image17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Source Sans 3" panose="020B0303030403020204" pitchFamily="34" charset="0"/>
      <p:regular r:id="rId16"/>
    </p:embeddedFont>
    <p:embeddedFont>
      <p:font typeface="Source Sans 3" panose="020B0303030403020204" pitchFamily="34" charset="-122"/>
      <p:regular r:id="rId17"/>
    </p:embeddedFont>
    <p:embeddedFont>
      <p:font typeface="Source Sans 3" panose="020B0303030403020204" pitchFamily="34" charset="-120"/>
      <p:regular r:id="rId18"/>
    </p:embeddedFont>
    <p:embeddedFont>
      <p:font typeface="Consolas" panose="020B0609020204030204" pitchFamily="34" charset="0"/>
      <p:regular r:id="rId19"/>
      <p:bold r:id="rId20"/>
      <p:italic r:id="rId21"/>
      <p:boldItalic r:id="rId22"/>
    </p:embeddedFont>
    <p:embeddedFont>
      <p:font typeface="Consolas" panose="020B0609020204030204" pitchFamily="34" charset="-122"/>
      <p:regular r:id="rId23"/>
    </p:embeddedFont>
    <p:embeddedFont>
      <p:font typeface="Consolas" panose="020B0609020204030204" pitchFamily="34" charset="-120"/>
      <p:regular r:id="rId24"/>
    </p:embeddedFont>
    <p:embeddedFont>
      <p:font typeface="Calibri" panose="020F0502020204030204" charset="0"/>
      <p:regular r:id="rId25"/>
      <p:bold r:id="rId26"/>
      <p:italic r:id="rId27"/>
      <p:boldItalic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7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font" Target="fonts/font13.fntdata"/><Relationship Id="rId27" Type="http://schemas.openxmlformats.org/officeDocument/2006/relationships/font" Target="fonts/font12.fntdata"/><Relationship Id="rId26" Type="http://schemas.openxmlformats.org/officeDocument/2006/relationships/font" Target="fonts/font11.fntdata"/><Relationship Id="rId25" Type="http://schemas.openxmlformats.org/officeDocument/2006/relationships/font" Target="fonts/font10.fntdata"/><Relationship Id="rId24" Type="http://schemas.openxmlformats.org/officeDocument/2006/relationships/font" Target="fonts/font9.fntdata"/><Relationship Id="rId23" Type="http://schemas.openxmlformats.org/officeDocument/2006/relationships/font" Target="fonts/font8.fntdata"/><Relationship Id="rId22" Type="http://schemas.openxmlformats.org/officeDocument/2006/relationships/font" Target="fonts/font7.fntdata"/><Relationship Id="rId21" Type="http://schemas.openxmlformats.org/officeDocument/2006/relationships/font" Target="fonts/font6.fntdata"/><Relationship Id="rId20" Type="http://schemas.openxmlformats.org/officeDocument/2006/relationships/font" Target="fonts/font5.fntdata"/><Relationship Id="rId2" Type="http://schemas.openxmlformats.org/officeDocument/2006/relationships/theme" Target="theme/theme1.xml"/><Relationship Id="rId19" Type="http://schemas.openxmlformats.org/officeDocument/2006/relationships/font" Target="fonts/font4.fntdata"/><Relationship Id="rId18" Type="http://schemas.openxmlformats.org/officeDocument/2006/relationships/font" Target="fonts/font3.fntdata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6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Relationship Id="rId3" Type="http://schemas.openxmlformats.org/officeDocument/2006/relationships/image" Target="../media/image7.svg"/><Relationship Id="rId2" Type="http://schemas.openxmlformats.org/officeDocument/2006/relationships/image" Target="../media/image3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8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17.sv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99134" y="2963704"/>
            <a:ext cx="5632490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Hotelkaseyset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3937159"/>
            <a:ext cx="7468553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«Разработка мобильного приложения для бронирования отелей с ролевой моделью на платформе Android»</a:t>
            </a: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4972407"/>
            <a:ext cx="7468553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Докладчик: [Арестов Денис Валентинович], группа 410 Ис]. </a:t>
            </a:r>
            <a:endParaRPr lang="en-US" sz="185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057281"/>
            <a:ext cx="8972907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Актуальность и Цели Проекта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335655"/>
            <a:ext cx="10924103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В современном мире мобильные приложения для бронирования отелей стали неотъемлемой частью индустрии туризма. Однако многие существующие решения обладают избыточным функционалом или требуют постоянного подключения к сети.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1196697" y="4753928"/>
            <a:ext cx="10565130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Цель проекта:</a:t>
            </a: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Разработка автономного Android-приложения для бронирования отелей с интуитивно понятным интерфейсом и разграничением прав доступа для обычного клиента, VIP-клиента и администратора.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837724" y="4753928"/>
            <a:ext cx="30480" cy="1149072"/>
          </a:xfrm>
          <a:prstGeom prst="rect">
            <a:avLst/>
          </a:prstGeom>
          <a:solidFill>
            <a:srgbClr val="E851B2"/>
          </a:solidFill>
        </p:spPr>
      </p:sp>
      <p:sp>
        <p:nvSpPr>
          <p:cNvPr id="6" name="Text 4"/>
          <p:cNvSpPr/>
          <p:nvPr/>
        </p:nvSpPr>
        <p:spPr>
          <a:xfrm>
            <a:off x="12353330" y="4155519"/>
            <a:ext cx="1446848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2353330" y="4753928"/>
            <a:ext cx="1446848" cy="3830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endParaRPr lang="en-US" sz="185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07676" y="878205"/>
            <a:ext cx="6748582" cy="53494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200"/>
              </a:lnSpc>
              <a:buNone/>
            </a:pPr>
            <a:r>
              <a:rPr lang="en-US" sz="33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Ключевые Задачи Разработки</a:t>
            </a:r>
            <a:endParaRPr lang="en-US" sz="3350" dirty="0"/>
          </a:p>
        </p:txBody>
      </p:sp>
      <p:sp>
        <p:nvSpPr>
          <p:cNvPr id="3" name="Shape 1"/>
          <p:cNvSpPr/>
          <p:nvPr/>
        </p:nvSpPr>
        <p:spPr>
          <a:xfrm>
            <a:off x="1407676" y="1962507"/>
            <a:ext cx="5838349" cy="1522214"/>
          </a:xfrm>
          <a:prstGeom prst="roundRect">
            <a:avLst>
              <a:gd name="adj" fmla="val 7208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1407676" y="1939647"/>
            <a:ext cx="5838349" cy="91440"/>
          </a:xfrm>
          <a:prstGeom prst="roundRect">
            <a:avLst>
              <a:gd name="adj" fmla="val 83567"/>
            </a:avLst>
          </a:prstGeom>
          <a:solidFill>
            <a:srgbClr val="E851B2"/>
          </a:solidFill>
        </p:spPr>
      </p:sp>
      <p:sp>
        <p:nvSpPr>
          <p:cNvPr id="5" name="Shape 3"/>
          <p:cNvSpPr/>
          <p:nvPr/>
        </p:nvSpPr>
        <p:spPr>
          <a:xfrm>
            <a:off x="4053959" y="1689616"/>
            <a:ext cx="545783" cy="545783"/>
          </a:xfrm>
          <a:prstGeom prst="roundRect">
            <a:avLst>
              <a:gd name="adj" fmla="val 167539"/>
            </a:avLst>
          </a:prstGeom>
          <a:solidFill>
            <a:srgbClr val="E851B2"/>
          </a:solidFill>
        </p:spPr>
      </p:sp>
      <p:sp>
        <p:nvSpPr>
          <p:cNvPr id="6" name="Text 4"/>
          <p:cNvSpPr/>
          <p:nvPr/>
        </p:nvSpPr>
        <p:spPr>
          <a:xfrm>
            <a:off x="4217670" y="1826062"/>
            <a:ext cx="218242" cy="272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612463" y="2417326"/>
            <a:ext cx="3482221" cy="267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Проектирование Базы Данных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12463" y="2767727"/>
            <a:ext cx="5428774" cy="512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Разработка структуры для хранения данных о пользователях, отелях, бронированиях, избранном, бонусах и отзывах.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84256" y="1962507"/>
            <a:ext cx="5838468" cy="1522214"/>
          </a:xfrm>
          <a:prstGeom prst="roundRect">
            <a:avLst>
              <a:gd name="adj" fmla="val 7208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0" name="Shape 8"/>
          <p:cNvSpPr/>
          <p:nvPr/>
        </p:nvSpPr>
        <p:spPr>
          <a:xfrm>
            <a:off x="7384256" y="1939647"/>
            <a:ext cx="5838468" cy="91440"/>
          </a:xfrm>
          <a:prstGeom prst="roundRect">
            <a:avLst>
              <a:gd name="adj" fmla="val 83567"/>
            </a:avLst>
          </a:prstGeom>
          <a:solidFill>
            <a:srgbClr val="E851B2"/>
          </a:solidFill>
        </p:spPr>
      </p:sp>
      <p:sp>
        <p:nvSpPr>
          <p:cNvPr id="11" name="Shape 9"/>
          <p:cNvSpPr/>
          <p:nvPr/>
        </p:nvSpPr>
        <p:spPr>
          <a:xfrm>
            <a:off x="10030539" y="1689616"/>
            <a:ext cx="545783" cy="545783"/>
          </a:xfrm>
          <a:prstGeom prst="roundRect">
            <a:avLst>
              <a:gd name="adj" fmla="val 167539"/>
            </a:avLst>
          </a:prstGeom>
          <a:solidFill>
            <a:srgbClr val="E851B2"/>
          </a:solidFill>
        </p:spPr>
      </p:sp>
      <p:sp>
        <p:nvSpPr>
          <p:cNvPr id="12" name="Text 10"/>
          <p:cNvSpPr/>
          <p:nvPr/>
        </p:nvSpPr>
        <p:spPr>
          <a:xfrm>
            <a:off x="10194250" y="1826062"/>
            <a:ext cx="218242" cy="272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9044" y="2417326"/>
            <a:ext cx="3228022" cy="267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Реализация Локальной Базы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9044" y="2767727"/>
            <a:ext cx="5428893" cy="512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Использование SQLite для обеспечения автономной работы приложения без интернета.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407676" y="3895844"/>
            <a:ext cx="5838349" cy="1522214"/>
          </a:xfrm>
          <a:prstGeom prst="roundRect">
            <a:avLst>
              <a:gd name="adj" fmla="val 7208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16" name="Shape 14"/>
          <p:cNvSpPr/>
          <p:nvPr/>
        </p:nvSpPr>
        <p:spPr>
          <a:xfrm>
            <a:off x="1407676" y="3872984"/>
            <a:ext cx="5838349" cy="91440"/>
          </a:xfrm>
          <a:prstGeom prst="roundRect">
            <a:avLst>
              <a:gd name="adj" fmla="val 83567"/>
            </a:avLst>
          </a:prstGeom>
          <a:solidFill>
            <a:srgbClr val="E851B2"/>
          </a:solidFill>
        </p:spPr>
      </p:sp>
      <p:sp>
        <p:nvSpPr>
          <p:cNvPr id="17" name="Shape 15"/>
          <p:cNvSpPr/>
          <p:nvPr/>
        </p:nvSpPr>
        <p:spPr>
          <a:xfrm>
            <a:off x="4053959" y="3622953"/>
            <a:ext cx="545783" cy="545783"/>
          </a:xfrm>
          <a:prstGeom prst="roundRect">
            <a:avLst>
              <a:gd name="adj" fmla="val 167539"/>
            </a:avLst>
          </a:prstGeom>
          <a:solidFill>
            <a:srgbClr val="E851B2"/>
          </a:solidFill>
        </p:spPr>
      </p:sp>
      <p:sp>
        <p:nvSpPr>
          <p:cNvPr id="18" name="Text 16"/>
          <p:cNvSpPr/>
          <p:nvPr/>
        </p:nvSpPr>
        <p:spPr>
          <a:xfrm>
            <a:off x="4217670" y="3759398"/>
            <a:ext cx="218242" cy="272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612463" y="4350663"/>
            <a:ext cx="2998470" cy="267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Программный Интерфейс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1612463" y="4701064"/>
            <a:ext cx="5428774" cy="512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Создание графического интерфейса полностью программно, исключая использование XML-разметки.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384256" y="3895844"/>
            <a:ext cx="5838468" cy="1522214"/>
          </a:xfrm>
          <a:prstGeom prst="roundRect">
            <a:avLst>
              <a:gd name="adj" fmla="val 7208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2" name="Shape 20"/>
          <p:cNvSpPr/>
          <p:nvPr/>
        </p:nvSpPr>
        <p:spPr>
          <a:xfrm>
            <a:off x="7384256" y="3872984"/>
            <a:ext cx="5838468" cy="91440"/>
          </a:xfrm>
          <a:prstGeom prst="roundRect">
            <a:avLst>
              <a:gd name="adj" fmla="val 83567"/>
            </a:avLst>
          </a:prstGeom>
          <a:solidFill>
            <a:srgbClr val="E851B2"/>
          </a:solidFill>
        </p:spPr>
      </p:sp>
      <p:sp>
        <p:nvSpPr>
          <p:cNvPr id="23" name="Shape 21"/>
          <p:cNvSpPr/>
          <p:nvPr/>
        </p:nvSpPr>
        <p:spPr>
          <a:xfrm>
            <a:off x="10030539" y="3622953"/>
            <a:ext cx="545783" cy="545783"/>
          </a:xfrm>
          <a:prstGeom prst="roundRect">
            <a:avLst>
              <a:gd name="adj" fmla="val 167539"/>
            </a:avLst>
          </a:prstGeom>
          <a:solidFill>
            <a:srgbClr val="E851B2"/>
          </a:solidFill>
        </p:spPr>
      </p:sp>
      <p:sp>
        <p:nvSpPr>
          <p:cNvPr id="24" name="Text 22"/>
          <p:cNvSpPr/>
          <p:nvPr/>
        </p:nvSpPr>
        <p:spPr>
          <a:xfrm>
            <a:off x="10194250" y="3759398"/>
            <a:ext cx="218242" cy="272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4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589044" y="4350663"/>
            <a:ext cx="3153966" cy="267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Внедрение Ролевой Модели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7589044" y="4701064"/>
            <a:ext cx="5428893" cy="512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Реализация различных функций и уровней доступа для каждой категории пользователей.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407676" y="5829181"/>
            <a:ext cx="5838349" cy="1522214"/>
          </a:xfrm>
          <a:prstGeom prst="roundRect">
            <a:avLst>
              <a:gd name="adj" fmla="val 7208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28" name="Shape 26"/>
          <p:cNvSpPr/>
          <p:nvPr/>
        </p:nvSpPr>
        <p:spPr>
          <a:xfrm>
            <a:off x="1407676" y="5806321"/>
            <a:ext cx="5838349" cy="91440"/>
          </a:xfrm>
          <a:prstGeom prst="roundRect">
            <a:avLst>
              <a:gd name="adj" fmla="val 83567"/>
            </a:avLst>
          </a:prstGeom>
          <a:solidFill>
            <a:srgbClr val="E851B2"/>
          </a:solidFill>
        </p:spPr>
      </p:sp>
      <p:sp>
        <p:nvSpPr>
          <p:cNvPr id="29" name="Shape 27"/>
          <p:cNvSpPr/>
          <p:nvPr/>
        </p:nvSpPr>
        <p:spPr>
          <a:xfrm>
            <a:off x="4053959" y="5556290"/>
            <a:ext cx="545783" cy="545783"/>
          </a:xfrm>
          <a:prstGeom prst="roundRect">
            <a:avLst>
              <a:gd name="adj" fmla="val 167539"/>
            </a:avLst>
          </a:prstGeom>
          <a:solidFill>
            <a:srgbClr val="E851B2"/>
          </a:solidFill>
        </p:spPr>
      </p:sp>
      <p:sp>
        <p:nvSpPr>
          <p:cNvPr id="30" name="Text 28"/>
          <p:cNvSpPr/>
          <p:nvPr/>
        </p:nvSpPr>
        <p:spPr>
          <a:xfrm>
            <a:off x="4217670" y="5692735"/>
            <a:ext cx="218242" cy="272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5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1612463" y="6284000"/>
            <a:ext cx="2698075" cy="267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Стабильность и Защита</a:t>
            </a:r>
            <a:endParaRPr lang="en-US" sz="1650" dirty="0"/>
          </a:p>
        </p:txBody>
      </p:sp>
      <p:sp>
        <p:nvSpPr>
          <p:cNvPr id="32" name="Text 30"/>
          <p:cNvSpPr/>
          <p:nvPr/>
        </p:nvSpPr>
        <p:spPr>
          <a:xfrm>
            <a:off x="1612463" y="6634401"/>
            <a:ext cx="5428774" cy="512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Обеспечение надежной работы приложения и его устойчивости к ошибкам ввода.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84256" y="5829181"/>
            <a:ext cx="5838468" cy="1522214"/>
          </a:xfrm>
          <a:prstGeom prst="roundRect">
            <a:avLst>
              <a:gd name="adj" fmla="val 7208"/>
            </a:avLst>
          </a:prstGeom>
          <a:solidFill>
            <a:srgbClr val="FFFFFF">
              <a:alpha val="95000"/>
            </a:srgbClr>
          </a:solidFill>
        </p:spPr>
      </p:sp>
      <p:sp>
        <p:nvSpPr>
          <p:cNvPr id="34" name="Shape 32"/>
          <p:cNvSpPr/>
          <p:nvPr/>
        </p:nvSpPr>
        <p:spPr>
          <a:xfrm>
            <a:off x="7384256" y="5806321"/>
            <a:ext cx="5838468" cy="91440"/>
          </a:xfrm>
          <a:prstGeom prst="roundRect">
            <a:avLst>
              <a:gd name="adj" fmla="val 83567"/>
            </a:avLst>
          </a:prstGeom>
          <a:solidFill>
            <a:srgbClr val="E851B2"/>
          </a:solidFill>
        </p:spPr>
      </p:sp>
      <p:sp>
        <p:nvSpPr>
          <p:cNvPr id="35" name="Shape 33"/>
          <p:cNvSpPr/>
          <p:nvPr/>
        </p:nvSpPr>
        <p:spPr>
          <a:xfrm>
            <a:off x="10030539" y="5556290"/>
            <a:ext cx="545783" cy="545783"/>
          </a:xfrm>
          <a:prstGeom prst="roundRect">
            <a:avLst>
              <a:gd name="adj" fmla="val 167539"/>
            </a:avLst>
          </a:prstGeom>
          <a:solidFill>
            <a:srgbClr val="E851B2"/>
          </a:solidFill>
        </p:spPr>
      </p:sp>
      <p:sp>
        <p:nvSpPr>
          <p:cNvPr id="36" name="Text 34"/>
          <p:cNvSpPr/>
          <p:nvPr/>
        </p:nvSpPr>
        <p:spPr>
          <a:xfrm>
            <a:off x="10194250" y="5692735"/>
            <a:ext cx="218242" cy="27289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6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7589044" y="6284000"/>
            <a:ext cx="3523655" cy="2675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6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Документация и Тестирование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589044" y="6634401"/>
            <a:ext cx="5428893" cy="51220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4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Подготовка технической документации и всестороннее тестирование.</a:t>
            </a:r>
            <a:endParaRPr lang="en-US" sz="1400" dirty="0"/>
          </a:p>
        </p:txBody>
      </p:sp>
      <p:sp>
        <p:nvSpPr>
          <p:cNvPr id="39" name="Прямоугольник 38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9023" y="942975"/>
            <a:ext cx="2482215" cy="394454"/>
          </a:xfrm>
          <a:prstGeom prst="roundRect">
            <a:avLst>
              <a:gd name="adj" fmla="val 18475"/>
            </a:avLst>
          </a:prstGeom>
          <a:solidFill>
            <a:srgbClr val="F9D2E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40" y="1053465"/>
            <a:ext cx="173474" cy="17347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9191" y="1007983"/>
            <a:ext cx="1962031" cy="26443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ТЕХНОЛОГИЧЕСКИЙ СТЕК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59023" y="1416010"/>
            <a:ext cx="8113990" cy="51030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Средства и Инструменты Разработки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59023" y="2397800"/>
            <a:ext cx="4245293" cy="16537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Приложение было разработано на языке программирования </a:t>
            </a: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Kotlin</a:t>
            </a: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в интегрированной среде </a:t>
            </a: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Android Studio</a:t>
            </a: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, что обеспечило эффективность и современность решения.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9023" y="4228386"/>
            <a:ext cx="4245293" cy="2645749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Kotlin:</a:t>
            </a:r>
            <a:endParaRPr lang="en-US" sz="17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Android Studio:</a:t>
            </a:r>
            <a:endParaRPr lang="en-US" sz="17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SQLite (SQLiteOpenHelper):</a:t>
            </a:r>
            <a:endParaRPr lang="en-US" sz="17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SharedPreferences:</a:t>
            </a:r>
            <a:endParaRPr lang="en-US" sz="1700" dirty="0"/>
          </a:p>
          <a:p>
            <a:pPr marL="0" indent="0" algn="l">
              <a:lnSpc>
                <a:spcPts val="2600"/>
              </a:lnSpc>
              <a:buSzPct val="100000"/>
              <a:buNone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Программное создание UI:</a:t>
            </a: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LinearLayout, TextView, Button, CardView и др. для гибкого UI.</a:t>
            </a:r>
            <a:endParaRPr lang="en-US" sz="1700" dirty="0"/>
          </a:p>
          <a:p>
            <a:pPr marL="342900" indent="-342900" algn="l">
              <a:lnSpc>
                <a:spcPts val="260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Библиотеки AndroidX: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050" y="2554367"/>
            <a:ext cx="8337828" cy="4398764"/>
          </a:xfrm>
          <a:prstGeom prst="rect">
            <a:avLst/>
          </a:prstGeom>
        </p:spPr>
      </p:pic>
      <p:sp>
        <p:nvSpPr>
          <p:cNvPr id="9" name="Прямоугольник 8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64249" y="410527"/>
            <a:ext cx="6960632" cy="4301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50"/>
              </a:lnSpc>
              <a:buNone/>
            </a:pPr>
            <a:r>
              <a:rPr lang="en-US" sz="27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Структура Реляционной Базы Данных</a:t>
            </a:r>
            <a:endParaRPr lang="en-US" sz="2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4249" y="1019532"/>
            <a:ext cx="9501783" cy="49335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19390" y="3108484"/>
            <a:ext cx="1172521" cy="7444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Схема базы данных</a:t>
            </a:r>
            <a:endParaRPr lang="en-US" sz="15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47242" y="2327878"/>
            <a:ext cx="238608" cy="238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89100" y="2037679"/>
            <a:ext cx="1986250" cy="24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Users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2789100" y="2360855"/>
            <a:ext cx="2054256" cy="3400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Пользователи системы и данные аккаунтов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9786705" y="2037679"/>
            <a:ext cx="1986250" cy="24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Hotels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786705" y="2360855"/>
            <a:ext cx="2054256" cy="3400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Отели с описанием и адресами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17243" y="1821349"/>
            <a:ext cx="238608" cy="238608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06374" y="4372754"/>
            <a:ext cx="238608" cy="238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2789100" y="4232638"/>
            <a:ext cx="1986250" cy="24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Bookings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2789100" y="4555814"/>
            <a:ext cx="2054256" cy="3400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Бронювання номеров и статусы</a:t>
            </a:r>
            <a:endParaRPr lang="en-US" sz="1300" dirty="0"/>
          </a:p>
        </p:txBody>
      </p:sp>
      <p:sp>
        <p:nvSpPr>
          <p:cNvPr id="14" name="Text 8"/>
          <p:cNvSpPr/>
          <p:nvPr/>
        </p:nvSpPr>
        <p:spPr>
          <a:xfrm>
            <a:off x="9786705" y="4232638"/>
            <a:ext cx="1986250" cy="24813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Favorites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9786705" y="4555814"/>
            <a:ext cx="2054256" cy="34003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3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Избранные отели пользователей</a:t>
            </a:r>
            <a:endParaRPr lang="en-US" sz="13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51747" y="5151308"/>
            <a:ext cx="238608" cy="238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2564249" y="6053733"/>
            <a:ext cx="9501783" cy="3771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База данных, спроектированная с учетом принципов нормализации, состоит из шести основных таблиц для эффективного хранения и управления информацией: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2564249" y="6531531"/>
            <a:ext cx="9501783" cy="113156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users:</a:t>
            </a:r>
            <a:endParaRPr lang="en-US" sz="11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hotels:</a:t>
            </a:r>
            <a:endParaRPr lang="en-US" sz="11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bookings:</a:t>
            </a:r>
            <a:endParaRPr lang="en-US" sz="11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favorites:</a:t>
            </a:r>
            <a:endParaRPr lang="en-US" sz="11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bonus_transactions:</a:t>
            </a:r>
            <a:endParaRPr lang="en-US" sz="1150" dirty="0"/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5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reviews:</a:t>
            </a:r>
            <a:endParaRPr lang="en-US" sz="1150" dirty="0"/>
          </a:p>
        </p:txBody>
      </p:sp>
      <p:sp>
        <p:nvSpPr>
          <p:cNvPr id="19" name="Прямоугольник 18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5928" y="914638"/>
            <a:ext cx="2138720" cy="407670"/>
          </a:xfrm>
          <a:prstGeom prst="roundRect">
            <a:avLst>
              <a:gd name="adj" fmla="val 17801"/>
            </a:avLst>
          </a:prstGeom>
          <a:noFill/>
          <a:ln w="7620">
            <a:solidFill>
              <a:srgbClr val="E851B2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3088" y="1032034"/>
            <a:ext cx="172760" cy="172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52168" y="987028"/>
            <a:ext cx="1605320" cy="26289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50" dirty="0">
                <a:solidFill>
                  <a:srgbClr val="E851B2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UI/UX ОСОБЕННОСТИ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755928" y="1400175"/>
            <a:ext cx="11722894" cy="50815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Динамический Интерфейс и Визуальное Оформление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55928" y="2944416"/>
            <a:ext cx="8342590" cy="1314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Все элементы пользовательского интерфейса (UI) создаются динамически с помощью программного кода. Такой подход обеспечивает максимальную гибкость в управлении компонентами и минимизирует необходимость использования статической XML-разметки.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55928" y="4434245"/>
            <a:ext cx="8342590" cy="19721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CardView: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Кнопки:</a:t>
            </a:r>
            <a:endParaRPr lang="en-US" sz="1700" dirty="0"/>
          </a:p>
          <a:p>
            <a:pPr marL="0" indent="0" algn="l">
              <a:lnSpc>
                <a:spcPts val="2550"/>
              </a:lnSpc>
              <a:buSzPct val="100000"/>
              <a:buNone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Цветовая Схема:</a:t>
            </a: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красные для обычных клиентов, </a:t>
            </a:r>
            <a:r>
              <a:rPr lang="en-US" sz="1700" dirty="0">
                <a:solidFill>
                  <a:srgbClr val="FF80BA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фиолетовые</a:t>
            </a: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для VIP-клиентов и </a:t>
            </a:r>
            <a:r>
              <a:rPr lang="en-US" sz="1700" dirty="0">
                <a:solidFill>
                  <a:srgbClr val="FFB6B3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синие</a:t>
            </a:r>
            <a:r>
              <a:rPr lang="en-US" sz="17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для администраторов.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Навигация:</a:t>
            </a:r>
            <a:endParaRPr lang="en-US" sz="1700" dirty="0"/>
          </a:p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700" b="1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Верхняя Панель:</a:t>
            </a:r>
            <a:endParaRPr lang="en-US" sz="17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3109" y="2419826"/>
            <a:ext cx="1874639" cy="41719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33109" y="6538981"/>
            <a:ext cx="4248864" cy="32861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endParaRPr lang="en-US" sz="17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379458"/>
            <a:ext cx="9477613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Примеры Экранов Приложения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62225"/>
            <a:ext cx="12954952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Ниже представлены ключевые экраны, демонстрирующие функционал и интерфейс приложения для разных ролей и сценариев использования: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344" y="3751064"/>
            <a:ext cx="3051810" cy="2872502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606" y="3751064"/>
            <a:ext cx="3094911" cy="2872502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4969" y="3751064"/>
            <a:ext cx="3094911" cy="2872502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1333" y="3751064"/>
            <a:ext cx="3123605" cy="2872502"/>
          </a:xfrm>
          <a:prstGeom prst="rect">
            <a:avLst/>
          </a:prstGeom>
        </p:spPr>
      </p:pic>
      <p:sp>
        <p:nvSpPr>
          <p:cNvPr id="8" name="Прямоугольник 7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7724" y="844868"/>
            <a:ext cx="1916311" cy="449818"/>
          </a:xfrm>
          <a:prstGeom prst="roundRect">
            <a:avLst>
              <a:gd name="adj" fmla="val 17881"/>
            </a:avLst>
          </a:prstGeom>
          <a:solidFill>
            <a:srgbClr val="F9D2EB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1313" y="974050"/>
            <a:ext cx="191453" cy="19145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8492" y="916662"/>
            <a:ext cx="1341953" cy="3062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0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ТЕСТИРОВАНИЕ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37724" y="1390412"/>
            <a:ext cx="9317950" cy="56328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Обеспечение Стабильности и Качества</a:t>
            </a:r>
            <a:endParaRPr lang="en-US" sz="3500" dirty="0"/>
          </a:p>
        </p:txBody>
      </p:sp>
      <p:sp>
        <p:nvSpPr>
          <p:cNvPr id="6" name="Shape 3"/>
          <p:cNvSpPr/>
          <p:nvPr/>
        </p:nvSpPr>
        <p:spPr>
          <a:xfrm>
            <a:off x="665440" y="2312670"/>
            <a:ext cx="6530102" cy="3630930"/>
          </a:xfrm>
          <a:prstGeom prst="roundRect">
            <a:avLst>
              <a:gd name="adj" fmla="val 4747"/>
            </a:avLst>
          </a:prstGeom>
          <a:solidFill>
            <a:srgbClr val="E851B2">
              <a:alpha val="95000"/>
            </a:srgbClr>
          </a:solidFill>
        </p:spPr>
      </p:sp>
      <p:sp>
        <p:nvSpPr>
          <p:cNvPr id="7" name="Text 4"/>
          <p:cNvSpPr/>
          <p:nvPr/>
        </p:nvSpPr>
        <p:spPr>
          <a:xfrm>
            <a:off x="904756" y="2551986"/>
            <a:ext cx="3049667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Среда Тестирования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04756" y="3143250"/>
            <a:ext cx="6051471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Приложение было тщательно протестировано на эмуляторе Android (API 24–34) и на реальном устройстве Xiaomi Redmi Note 10.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614761" y="2551986"/>
            <a:ext cx="3616523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Проверенные Сценарии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7614761" y="3143250"/>
            <a:ext cx="6185535" cy="229805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Регистрация и авторизация пользователя.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Восстановление сессии и управление профилем.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Поиск, фильтрация и бронирование отелей.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Управление избранным, отмена бронирования.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Начисление и история бонусов.</a:t>
            </a:r>
            <a:endParaRPr lang="en-US" sz="1850" dirty="0"/>
          </a:p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Административные функции и управление данными.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37724" y="5794208"/>
            <a:ext cx="12954952" cy="11719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Особое внимание было уделено обработке исключительных ситуаций, использованию проверок на </a:t>
            </a:r>
            <a:r>
              <a:rPr lang="en-US" sz="1850" dirty="0">
                <a:solidFill>
                  <a:srgbClr val="432338"/>
                </a:solidFill>
                <a:highlight>
                  <a:srgbClr val="F2F2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null</a:t>
            </a: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 для предотвращения аварийного завершения при некорректном вводе. Все выявленные ошибки были оперативно исправлены, что обеспечило стабильную работу приложения.</a:t>
            </a:r>
            <a:endParaRPr lang="en-US" sz="185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14224"/>
            <a:ext cx="8388906" cy="70401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Заключение и Перспективы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477214"/>
            <a:ext cx="12954952" cy="76604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В результате курсовой работы было разработано полностью функционирующее мобильное приложение для бронирования отелей на платформе Android.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837724" y="3512463"/>
            <a:ext cx="12954952" cy="2521506"/>
          </a:xfrm>
          <a:prstGeom prst="roundRect">
            <a:avLst>
              <a:gd name="adj" fmla="val 3987"/>
            </a:avLst>
          </a:prstGeom>
          <a:solidFill>
            <a:srgbClr val="F9D2EB"/>
          </a:solidFill>
          <a:ln w="7620">
            <a:solidFill>
              <a:srgbClr val="DFB8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5344" y="3520083"/>
            <a:ext cx="4313158" cy="2506266"/>
          </a:xfrm>
          <a:prstGeom prst="roundRect">
            <a:avLst>
              <a:gd name="adj" fmla="val 4012"/>
            </a:avLst>
          </a:prstGeom>
          <a:solidFill>
            <a:srgbClr val="F9D2EB"/>
          </a:solidFill>
        </p:spPr>
      </p:sp>
      <p:sp>
        <p:nvSpPr>
          <p:cNvPr id="6" name="Text 4"/>
          <p:cNvSpPr/>
          <p:nvPr/>
        </p:nvSpPr>
        <p:spPr>
          <a:xfrm>
            <a:off x="1084659" y="3759398"/>
            <a:ext cx="347531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Выполнены Все Задачи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84659" y="4254937"/>
            <a:ext cx="3834527" cy="153209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Реализована локальная база данных, создан интуитивно понятный интерфейс и ролевая модель.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5158502" y="3520083"/>
            <a:ext cx="4313277" cy="2506266"/>
          </a:xfrm>
          <a:prstGeom prst="rect">
            <a:avLst/>
          </a:prstGeom>
          <a:solidFill>
            <a:srgbClr val="F9D2EB"/>
          </a:solidFill>
        </p:spPr>
      </p:sp>
      <p:sp>
        <p:nvSpPr>
          <p:cNvPr id="9" name="Shape 7"/>
          <p:cNvSpPr/>
          <p:nvPr/>
        </p:nvSpPr>
        <p:spPr>
          <a:xfrm>
            <a:off x="5158502" y="3520083"/>
            <a:ext cx="30480" cy="2506266"/>
          </a:xfrm>
          <a:prstGeom prst="roundRect">
            <a:avLst>
              <a:gd name="adj" fmla="val 329856"/>
            </a:avLst>
          </a:prstGeom>
          <a:solidFill>
            <a:srgbClr val="DFB8D1"/>
          </a:solidFill>
        </p:spPr>
      </p:sp>
      <p:sp>
        <p:nvSpPr>
          <p:cNvPr id="10" name="Text 8"/>
          <p:cNvSpPr/>
          <p:nvPr/>
        </p:nvSpPr>
        <p:spPr>
          <a:xfrm>
            <a:off x="5397818" y="3759398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Автономность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397818" y="4254937"/>
            <a:ext cx="3834646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Обеспечена полная работоспособность без доступа к сети.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9471779" y="3520083"/>
            <a:ext cx="4313277" cy="2506266"/>
          </a:xfrm>
          <a:prstGeom prst="rect">
            <a:avLst/>
          </a:prstGeom>
          <a:solidFill>
            <a:srgbClr val="F9D2EB"/>
          </a:solidFill>
        </p:spPr>
      </p:sp>
      <p:sp>
        <p:nvSpPr>
          <p:cNvPr id="13" name="Shape 11"/>
          <p:cNvSpPr/>
          <p:nvPr/>
        </p:nvSpPr>
        <p:spPr>
          <a:xfrm>
            <a:off x="9471779" y="3520083"/>
            <a:ext cx="30480" cy="2506266"/>
          </a:xfrm>
          <a:prstGeom prst="roundRect">
            <a:avLst>
              <a:gd name="adj" fmla="val 329856"/>
            </a:avLst>
          </a:prstGeom>
          <a:solidFill>
            <a:srgbClr val="DFB8D1"/>
          </a:solidFill>
        </p:spPr>
      </p:sp>
      <p:sp>
        <p:nvSpPr>
          <p:cNvPr id="14" name="Text 12"/>
          <p:cNvSpPr/>
          <p:nvPr/>
        </p:nvSpPr>
        <p:spPr>
          <a:xfrm>
            <a:off x="9711095" y="3759398"/>
            <a:ext cx="2816185" cy="3519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32338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Потенциал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711095" y="4254937"/>
            <a:ext cx="3834646" cy="11490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432338"/>
                </a:solidFill>
                <a:latin typeface="Source Sans 3" panose="020B0303030403020204" pitchFamily="34" charset="0"/>
                <a:ea typeface="Source Sans 3" panose="020B0303030403020204" pitchFamily="34" charset="-122"/>
                <a:cs typeface="Source Sans 3" panose="020B0303030403020204" pitchFamily="34" charset="-120"/>
              </a:rPr>
              <a:t>Приложение может служить основой для коммерческого сервиса или учебным пособием.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37724" y="6392942"/>
            <a:ext cx="10049828" cy="42231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71A2D"/>
                </a:solidFill>
                <a:latin typeface="Noto Serif HK Semi Bold" pitchFamily="34" charset="0"/>
                <a:ea typeface="Noto Serif HK Semi Bold" pitchFamily="34" charset="-122"/>
                <a:cs typeface="Noto Serif HK Semi Bold" pitchFamily="34" charset="-120"/>
              </a:rPr>
              <a:t>Спасибо за внимание! Готов ответить на ваши вопросы.</a:t>
            </a:r>
            <a:endParaRPr lang="en-US" sz="265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12404725" y="7472045"/>
            <a:ext cx="2206625" cy="735965"/>
          </a:xfrm>
          <a:prstGeom prst="rect">
            <a:avLst/>
          </a:prstGeom>
          <a:solidFill>
            <a:srgbClr val="FEF7F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3851</Words>
  <Application>WPS Presentation</Application>
  <PresentationFormat>On-screen Show (16:9)</PresentationFormat>
  <Paragraphs>145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7" baseType="lpstr">
      <vt:lpstr>Arial</vt:lpstr>
      <vt:lpstr>SimSun</vt:lpstr>
      <vt:lpstr>Wingdings</vt:lpstr>
      <vt:lpstr>Noto Serif HK Semi Bold</vt:lpstr>
      <vt:lpstr>Segoe Print</vt:lpstr>
      <vt:lpstr>Noto Serif HK Semi Bold</vt:lpstr>
      <vt:lpstr>Noto Serif HK Semi Bold</vt:lpstr>
      <vt:lpstr>Source Sans 3</vt:lpstr>
      <vt:lpstr>Source Sans 3</vt:lpstr>
      <vt:lpstr>Source Sans 3</vt:lpstr>
      <vt:lpstr>Consolas</vt:lpstr>
      <vt:lpstr>Consolas</vt:lpstr>
      <vt:lpstr>Consolas</vt:lpstr>
      <vt:lpstr>Calibri</vt:lpstr>
      <vt:lpstr>Microsoft YaHei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Denchik</cp:lastModifiedBy>
  <cp:revision>3</cp:revision>
  <dcterms:created xsi:type="dcterms:W3CDTF">2026-02-12T03:09:00Z</dcterms:created>
  <dcterms:modified xsi:type="dcterms:W3CDTF">2026-02-12T03:17:03Z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2582A9CEC39D45F69B463FF37B9ADD58_13</vt:lpwstr>
  </property>
  <property fmtid="{D5CDD505-2E9C-101B-9397-08002B2CF9AE}" pid="3" name="KSOProductBuildVer">
    <vt:lpwstr>1049-12.2.0.23196</vt:lpwstr>
  </property>
</Properties>
</file>